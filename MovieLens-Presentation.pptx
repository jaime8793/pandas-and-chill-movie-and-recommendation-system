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2"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5" d="100"/>
          <a:sy n="55" d="100"/>
        </p:scale>
        <p:origin x="1096"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C22DC1-C99F-BBBF-DDAB-66CDD1BA438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DEA838E-2EBF-A771-C24A-84AD42C6172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89481C4-475D-FC7D-933B-915C7A5DE5ED}"/>
              </a:ext>
            </a:extLst>
          </p:cNvPr>
          <p:cNvSpPr>
            <a:spLocks noGrp="1"/>
          </p:cNvSpPr>
          <p:nvPr>
            <p:ph type="dt" sz="half" idx="10"/>
          </p:nvPr>
        </p:nvSpPr>
        <p:spPr/>
        <p:txBody>
          <a:bodyPr/>
          <a:lstStyle/>
          <a:p>
            <a:fld id="{AFAFB76A-7120-43DF-9600-CDEB933F1F44}" type="datetimeFigureOut">
              <a:rPr lang="en-US" smtClean="0"/>
              <a:t>2/3/2026</a:t>
            </a:fld>
            <a:endParaRPr lang="en-US"/>
          </a:p>
        </p:txBody>
      </p:sp>
      <p:sp>
        <p:nvSpPr>
          <p:cNvPr id="5" name="Footer Placeholder 4">
            <a:extLst>
              <a:ext uri="{FF2B5EF4-FFF2-40B4-BE49-F238E27FC236}">
                <a16:creationId xmlns:a16="http://schemas.microsoft.com/office/drawing/2014/main" id="{E9436708-DE2F-790B-216B-13B480BCDAB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29A34C6-27D6-59E7-ED61-6FF68A32B3FB}"/>
              </a:ext>
            </a:extLst>
          </p:cNvPr>
          <p:cNvSpPr>
            <a:spLocks noGrp="1"/>
          </p:cNvSpPr>
          <p:nvPr>
            <p:ph type="sldNum" sz="quarter" idx="12"/>
          </p:nvPr>
        </p:nvSpPr>
        <p:spPr/>
        <p:txBody>
          <a:bodyPr/>
          <a:lstStyle/>
          <a:p>
            <a:fld id="{7B1C5B25-7951-4479-8D8F-23F057A4B220}" type="slidenum">
              <a:rPr lang="en-US" smtClean="0"/>
              <a:t>‹#›</a:t>
            </a:fld>
            <a:endParaRPr lang="en-US"/>
          </a:p>
        </p:txBody>
      </p:sp>
    </p:spTree>
    <p:extLst>
      <p:ext uri="{BB962C8B-B14F-4D97-AF65-F5344CB8AC3E}">
        <p14:creationId xmlns:p14="http://schemas.microsoft.com/office/powerpoint/2010/main" val="38826324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16562F-DF11-B2DE-30A4-BC2D8ADFC55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BCB9961-0E77-F399-358B-B43B9F6EA14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A4C1CA-48DD-017A-408D-414DFFB75701}"/>
              </a:ext>
            </a:extLst>
          </p:cNvPr>
          <p:cNvSpPr>
            <a:spLocks noGrp="1"/>
          </p:cNvSpPr>
          <p:nvPr>
            <p:ph type="dt" sz="half" idx="10"/>
          </p:nvPr>
        </p:nvSpPr>
        <p:spPr/>
        <p:txBody>
          <a:bodyPr/>
          <a:lstStyle/>
          <a:p>
            <a:fld id="{AFAFB76A-7120-43DF-9600-CDEB933F1F44}" type="datetimeFigureOut">
              <a:rPr lang="en-US" smtClean="0"/>
              <a:t>2/3/2026</a:t>
            </a:fld>
            <a:endParaRPr lang="en-US"/>
          </a:p>
        </p:txBody>
      </p:sp>
      <p:sp>
        <p:nvSpPr>
          <p:cNvPr id="5" name="Footer Placeholder 4">
            <a:extLst>
              <a:ext uri="{FF2B5EF4-FFF2-40B4-BE49-F238E27FC236}">
                <a16:creationId xmlns:a16="http://schemas.microsoft.com/office/drawing/2014/main" id="{18CD2AA9-8AD6-6C44-DD51-2EECBBBC5BE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9A1CCA9-0C53-6EFC-D223-E67494133ADD}"/>
              </a:ext>
            </a:extLst>
          </p:cNvPr>
          <p:cNvSpPr>
            <a:spLocks noGrp="1"/>
          </p:cNvSpPr>
          <p:nvPr>
            <p:ph type="sldNum" sz="quarter" idx="12"/>
          </p:nvPr>
        </p:nvSpPr>
        <p:spPr/>
        <p:txBody>
          <a:bodyPr/>
          <a:lstStyle/>
          <a:p>
            <a:fld id="{7B1C5B25-7951-4479-8D8F-23F057A4B220}" type="slidenum">
              <a:rPr lang="en-US" smtClean="0"/>
              <a:t>‹#›</a:t>
            </a:fld>
            <a:endParaRPr lang="en-US"/>
          </a:p>
        </p:txBody>
      </p:sp>
    </p:spTree>
    <p:extLst>
      <p:ext uri="{BB962C8B-B14F-4D97-AF65-F5344CB8AC3E}">
        <p14:creationId xmlns:p14="http://schemas.microsoft.com/office/powerpoint/2010/main" val="37422818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72E014-C476-E3DA-9704-9D72D092171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2FF4087-63F5-3699-2867-077A96D6F71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1A91226-86D2-CCF2-A47F-553382CB72BD}"/>
              </a:ext>
            </a:extLst>
          </p:cNvPr>
          <p:cNvSpPr>
            <a:spLocks noGrp="1"/>
          </p:cNvSpPr>
          <p:nvPr>
            <p:ph type="dt" sz="half" idx="10"/>
          </p:nvPr>
        </p:nvSpPr>
        <p:spPr/>
        <p:txBody>
          <a:bodyPr/>
          <a:lstStyle/>
          <a:p>
            <a:fld id="{AFAFB76A-7120-43DF-9600-CDEB933F1F44}" type="datetimeFigureOut">
              <a:rPr lang="en-US" smtClean="0"/>
              <a:t>2/3/2026</a:t>
            </a:fld>
            <a:endParaRPr lang="en-US"/>
          </a:p>
        </p:txBody>
      </p:sp>
      <p:sp>
        <p:nvSpPr>
          <p:cNvPr id="5" name="Footer Placeholder 4">
            <a:extLst>
              <a:ext uri="{FF2B5EF4-FFF2-40B4-BE49-F238E27FC236}">
                <a16:creationId xmlns:a16="http://schemas.microsoft.com/office/drawing/2014/main" id="{E4FF0CBA-F05B-BBBA-3362-DD887E07408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C85C991-16C2-CE6F-3E27-680FF6DA2AEE}"/>
              </a:ext>
            </a:extLst>
          </p:cNvPr>
          <p:cNvSpPr>
            <a:spLocks noGrp="1"/>
          </p:cNvSpPr>
          <p:nvPr>
            <p:ph type="sldNum" sz="quarter" idx="12"/>
          </p:nvPr>
        </p:nvSpPr>
        <p:spPr/>
        <p:txBody>
          <a:bodyPr/>
          <a:lstStyle/>
          <a:p>
            <a:fld id="{7B1C5B25-7951-4479-8D8F-23F057A4B220}" type="slidenum">
              <a:rPr lang="en-US" smtClean="0"/>
              <a:t>‹#›</a:t>
            </a:fld>
            <a:endParaRPr lang="en-US"/>
          </a:p>
        </p:txBody>
      </p:sp>
    </p:spTree>
    <p:extLst>
      <p:ext uri="{BB962C8B-B14F-4D97-AF65-F5344CB8AC3E}">
        <p14:creationId xmlns:p14="http://schemas.microsoft.com/office/powerpoint/2010/main" val="26096960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EAD34C-4AB5-39DD-C544-5F58BFD9F4C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6EFD22-65FC-2317-65D1-7847D0FA473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EDEBF4A-507B-F122-72C9-074322A8CE4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537E96C-4B25-3A0A-9BD5-87F01EE1DE25}"/>
              </a:ext>
            </a:extLst>
          </p:cNvPr>
          <p:cNvSpPr>
            <a:spLocks noGrp="1"/>
          </p:cNvSpPr>
          <p:nvPr>
            <p:ph type="dt" sz="half" idx="10"/>
          </p:nvPr>
        </p:nvSpPr>
        <p:spPr/>
        <p:txBody>
          <a:bodyPr/>
          <a:lstStyle/>
          <a:p>
            <a:fld id="{AFAFB76A-7120-43DF-9600-CDEB933F1F44}" type="datetimeFigureOut">
              <a:rPr lang="en-US" smtClean="0"/>
              <a:t>2/3/2026</a:t>
            </a:fld>
            <a:endParaRPr lang="en-US"/>
          </a:p>
        </p:txBody>
      </p:sp>
      <p:sp>
        <p:nvSpPr>
          <p:cNvPr id="6" name="Footer Placeholder 5">
            <a:extLst>
              <a:ext uri="{FF2B5EF4-FFF2-40B4-BE49-F238E27FC236}">
                <a16:creationId xmlns:a16="http://schemas.microsoft.com/office/drawing/2014/main" id="{06680382-854C-0F4F-915C-C1DAEB1548C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214D3E7-70EB-ACD7-78D1-C4E249ADAC54}"/>
              </a:ext>
            </a:extLst>
          </p:cNvPr>
          <p:cNvSpPr>
            <a:spLocks noGrp="1"/>
          </p:cNvSpPr>
          <p:nvPr>
            <p:ph type="sldNum" sz="quarter" idx="12"/>
          </p:nvPr>
        </p:nvSpPr>
        <p:spPr/>
        <p:txBody>
          <a:bodyPr/>
          <a:lstStyle/>
          <a:p>
            <a:fld id="{7B1C5B25-7951-4479-8D8F-23F057A4B220}" type="slidenum">
              <a:rPr lang="en-US" smtClean="0"/>
              <a:t>‹#›</a:t>
            </a:fld>
            <a:endParaRPr lang="en-US"/>
          </a:p>
        </p:txBody>
      </p:sp>
    </p:spTree>
    <p:extLst>
      <p:ext uri="{BB962C8B-B14F-4D97-AF65-F5344CB8AC3E}">
        <p14:creationId xmlns:p14="http://schemas.microsoft.com/office/powerpoint/2010/main" val="18236734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EF38A-E72C-32F8-6957-3123B1098F3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475E4D9-16EC-3460-046F-2D3A00A9371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F4BD60D-6D86-2FCE-339F-0A761754819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E37F975-0BBE-C0CC-A9B8-D0FA3F0B08F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939B379-24EC-AB75-4812-41029F5208C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3063B22-886E-118E-D099-91731B4D625D}"/>
              </a:ext>
            </a:extLst>
          </p:cNvPr>
          <p:cNvSpPr>
            <a:spLocks noGrp="1"/>
          </p:cNvSpPr>
          <p:nvPr>
            <p:ph type="dt" sz="half" idx="10"/>
          </p:nvPr>
        </p:nvSpPr>
        <p:spPr/>
        <p:txBody>
          <a:bodyPr/>
          <a:lstStyle/>
          <a:p>
            <a:fld id="{AFAFB76A-7120-43DF-9600-CDEB933F1F44}" type="datetimeFigureOut">
              <a:rPr lang="en-US" smtClean="0"/>
              <a:t>2/3/2026</a:t>
            </a:fld>
            <a:endParaRPr lang="en-US"/>
          </a:p>
        </p:txBody>
      </p:sp>
      <p:sp>
        <p:nvSpPr>
          <p:cNvPr id="8" name="Footer Placeholder 7">
            <a:extLst>
              <a:ext uri="{FF2B5EF4-FFF2-40B4-BE49-F238E27FC236}">
                <a16:creationId xmlns:a16="http://schemas.microsoft.com/office/drawing/2014/main" id="{3023C753-CA57-C7FB-5B4A-689A8C5E18B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A5B78E9-CBAE-7627-0EAC-41CCD5057443}"/>
              </a:ext>
            </a:extLst>
          </p:cNvPr>
          <p:cNvSpPr>
            <a:spLocks noGrp="1"/>
          </p:cNvSpPr>
          <p:nvPr>
            <p:ph type="sldNum" sz="quarter" idx="12"/>
          </p:nvPr>
        </p:nvSpPr>
        <p:spPr/>
        <p:txBody>
          <a:bodyPr/>
          <a:lstStyle/>
          <a:p>
            <a:fld id="{7B1C5B25-7951-4479-8D8F-23F057A4B220}" type="slidenum">
              <a:rPr lang="en-US" smtClean="0"/>
              <a:t>‹#›</a:t>
            </a:fld>
            <a:endParaRPr lang="en-US"/>
          </a:p>
        </p:txBody>
      </p:sp>
    </p:spTree>
    <p:extLst>
      <p:ext uri="{BB962C8B-B14F-4D97-AF65-F5344CB8AC3E}">
        <p14:creationId xmlns:p14="http://schemas.microsoft.com/office/powerpoint/2010/main" val="22246024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13A28A-1ADF-3E42-F600-CF07F6EA369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06CE2E6-6FBD-9234-A927-41DEACF23E56}"/>
              </a:ext>
            </a:extLst>
          </p:cNvPr>
          <p:cNvSpPr>
            <a:spLocks noGrp="1"/>
          </p:cNvSpPr>
          <p:nvPr>
            <p:ph type="dt" sz="half" idx="10"/>
          </p:nvPr>
        </p:nvSpPr>
        <p:spPr/>
        <p:txBody>
          <a:bodyPr/>
          <a:lstStyle/>
          <a:p>
            <a:fld id="{AFAFB76A-7120-43DF-9600-CDEB933F1F44}" type="datetimeFigureOut">
              <a:rPr lang="en-US" smtClean="0"/>
              <a:t>2/3/2026</a:t>
            </a:fld>
            <a:endParaRPr lang="en-US"/>
          </a:p>
        </p:txBody>
      </p:sp>
      <p:sp>
        <p:nvSpPr>
          <p:cNvPr id="4" name="Footer Placeholder 3">
            <a:extLst>
              <a:ext uri="{FF2B5EF4-FFF2-40B4-BE49-F238E27FC236}">
                <a16:creationId xmlns:a16="http://schemas.microsoft.com/office/drawing/2014/main" id="{12603FB7-F618-7ACB-2EEC-DEF8D591054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B1EB3DA-299B-4B79-C9F4-26258C6674CF}"/>
              </a:ext>
            </a:extLst>
          </p:cNvPr>
          <p:cNvSpPr>
            <a:spLocks noGrp="1"/>
          </p:cNvSpPr>
          <p:nvPr>
            <p:ph type="sldNum" sz="quarter" idx="12"/>
          </p:nvPr>
        </p:nvSpPr>
        <p:spPr/>
        <p:txBody>
          <a:bodyPr/>
          <a:lstStyle/>
          <a:p>
            <a:fld id="{7B1C5B25-7951-4479-8D8F-23F057A4B220}" type="slidenum">
              <a:rPr lang="en-US" smtClean="0"/>
              <a:t>‹#›</a:t>
            </a:fld>
            <a:endParaRPr lang="en-US"/>
          </a:p>
        </p:txBody>
      </p:sp>
    </p:spTree>
    <p:extLst>
      <p:ext uri="{BB962C8B-B14F-4D97-AF65-F5344CB8AC3E}">
        <p14:creationId xmlns:p14="http://schemas.microsoft.com/office/powerpoint/2010/main" val="18916444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337313E-EF20-845A-C235-1D1307A9505B}"/>
              </a:ext>
            </a:extLst>
          </p:cNvPr>
          <p:cNvSpPr>
            <a:spLocks noGrp="1"/>
          </p:cNvSpPr>
          <p:nvPr>
            <p:ph type="dt" sz="half" idx="10"/>
          </p:nvPr>
        </p:nvSpPr>
        <p:spPr/>
        <p:txBody>
          <a:bodyPr/>
          <a:lstStyle/>
          <a:p>
            <a:fld id="{AFAFB76A-7120-43DF-9600-CDEB933F1F44}" type="datetimeFigureOut">
              <a:rPr lang="en-US" smtClean="0"/>
              <a:t>2/3/2026</a:t>
            </a:fld>
            <a:endParaRPr lang="en-US"/>
          </a:p>
        </p:txBody>
      </p:sp>
      <p:sp>
        <p:nvSpPr>
          <p:cNvPr id="3" name="Footer Placeholder 2">
            <a:extLst>
              <a:ext uri="{FF2B5EF4-FFF2-40B4-BE49-F238E27FC236}">
                <a16:creationId xmlns:a16="http://schemas.microsoft.com/office/drawing/2014/main" id="{74367DB0-A331-EA11-96D6-FBA4836D0ED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2FECBCE-1E7A-2402-D04C-B22E91388C96}"/>
              </a:ext>
            </a:extLst>
          </p:cNvPr>
          <p:cNvSpPr>
            <a:spLocks noGrp="1"/>
          </p:cNvSpPr>
          <p:nvPr>
            <p:ph type="sldNum" sz="quarter" idx="12"/>
          </p:nvPr>
        </p:nvSpPr>
        <p:spPr/>
        <p:txBody>
          <a:bodyPr/>
          <a:lstStyle/>
          <a:p>
            <a:fld id="{7B1C5B25-7951-4479-8D8F-23F057A4B220}" type="slidenum">
              <a:rPr lang="en-US" smtClean="0"/>
              <a:t>‹#›</a:t>
            </a:fld>
            <a:endParaRPr lang="en-US"/>
          </a:p>
        </p:txBody>
      </p:sp>
    </p:spTree>
    <p:extLst>
      <p:ext uri="{BB962C8B-B14F-4D97-AF65-F5344CB8AC3E}">
        <p14:creationId xmlns:p14="http://schemas.microsoft.com/office/powerpoint/2010/main" val="18079674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5F4169-F4C5-D9D5-D40E-055EB1CB143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5FC0017-1BA3-DA09-32C6-0377B1DAC8E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52C2DCF-B050-6816-56F0-DFB06FAAF4C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6E98EF5-AACE-F0E2-867C-17D5AD8B4416}"/>
              </a:ext>
            </a:extLst>
          </p:cNvPr>
          <p:cNvSpPr>
            <a:spLocks noGrp="1"/>
          </p:cNvSpPr>
          <p:nvPr>
            <p:ph type="dt" sz="half" idx="10"/>
          </p:nvPr>
        </p:nvSpPr>
        <p:spPr/>
        <p:txBody>
          <a:bodyPr/>
          <a:lstStyle/>
          <a:p>
            <a:fld id="{AFAFB76A-7120-43DF-9600-CDEB933F1F44}" type="datetimeFigureOut">
              <a:rPr lang="en-US" smtClean="0"/>
              <a:t>2/3/2026</a:t>
            </a:fld>
            <a:endParaRPr lang="en-US"/>
          </a:p>
        </p:txBody>
      </p:sp>
      <p:sp>
        <p:nvSpPr>
          <p:cNvPr id="6" name="Footer Placeholder 5">
            <a:extLst>
              <a:ext uri="{FF2B5EF4-FFF2-40B4-BE49-F238E27FC236}">
                <a16:creationId xmlns:a16="http://schemas.microsoft.com/office/drawing/2014/main" id="{2D17AF11-CF45-DAFE-DD1F-5FD765FF99F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AC76BE3-485A-7772-9D89-984A5F3CD095}"/>
              </a:ext>
            </a:extLst>
          </p:cNvPr>
          <p:cNvSpPr>
            <a:spLocks noGrp="1"/>
          </p:cNvSpPr>
          <p:nvPr>
            <p:ph type="sldNum" sz="quarter" idx="12"/>
          </p:nvPr>
        </p:nvSpPr>
        <p:spPr/>
        <p:txBody>
          <a:bodyPr/>
          <a:lstStyle/>
          <a:p>
            <a:fld id="{7B1C5B25-7951-4479-8D8F-23F057A4B220}" type="slidenum">
              <a:rPr lang="en-US" smtClean="0"/>
              <a:t>‹#›</a:t>
            </a:fld>
            <a:endParaRPr lang="en-US"/>
          </a:p>
        </p:txBody>
      </p:sp>
    </p:spTree>
    <p:extLst>
      <p:ext uri="{BB962C8B-B14F-4D97-AF65-F5344CB8AC3E}">
        <p14:creationId xmlns:p14="http://schemas.microsoft.com/office/powerpoint/2010/main" val="21218189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059FF9-B040-D873-858F-8AA27F037D9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7667397-C5F4-320E-399E-CA0C0D58E9D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EAD7C8A-4B04-F4E1-C59E-C71885E9B1A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710C993-6654-B62E-9170-64F6EF1E2A3B}"/>
              </a:ext>
            </a:extLst>
          </p:cNvPr>
          <p:cNvSpPr>
            <a:spLocks noGrp="1"/>
          </p:cNvSpPr>
          <p:nvPr>
            <p:ph type="dt" sz="half" idx="10"/>
          </p:nvPr>
        </p:nvSpPr>
        <p:spPr/>
        <p:txBody>
          <a:bodyPr/>
          <a:lstStyle/>
          <a:p>
            <a:fld id="{AFAFB76A-7120-43DF-9600-CDEB933F1F44}" type="datetimeFigureOut">
              <a:rPr lang="en-US" smtClean="0"/>
              <a:t>2/3/2026</a:t>
            </a:fld>
            <a:endParaRPr lang="en-US"/>
          </a:p>
        </p:txBody>
      </p:sp>
      <p:sp>
        <p:nvSpPr>
          <p:cNvPr id="6" name="Footer Placeholder 5">
            <a:extLst>
              <a:ext uri="{FF2B5EF4-FFF2-40B4-BE49-F238E27FC236}">
                <a16:creationId xmlns:a16="http://schemas.microsoft.com/office/drawing/2014/main" id="{29BC327E-16EB-86E4-E1CB-4F48F4EE94F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7812D7F-F730-7789-BB06-2F74969A75A6}"/>
              </a:ext>
            </a:extLst>
          </p:cNvPr>
          <p:cNvSpPr>
            <a:spLocks noGrp="1"/>
          </p:cNvSpPr>
          <p:nvPr>
            <p:ph type="sldNum" sz="quarter" idx="12"/>
          </p:nvPr>
        </p:nvSpPr>
        <p:spPr/>
        <p:txBody>
          <a:bodyPr/>
          <a:lstStyle/>
          <a:p>
            <a:fld id="{7B1C5B25-7951-4479-8D8F-23F057A4B220}" type="slidenum">
              <a:rPr lang="en-US" smtClean="0"/>
              <a:t>‹#›</a:t>
            </a:fld>
            <a:endParaRPr lang="en-US"/>
          </a:p>
        </p:txBody>
      </p:sp>
    </p:spTree>
    <p:extLst>
      <p:ext uri="{BB962C8B-B14F-4D97-AF65-F5344CB8AC3E}">
        <p14:creationId xmlns:p14="http://schemas.microsoft.com/office/powerpoint/2010/main" val="4592963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B2CB8F-ADEE-304C-0548-0CFA6D47545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A7531BD-A3A9-D4F8-6D5A-DB4FB55896A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242124A-4236-D31B-EC39-46420CCB5C66}"/>
              </a:ext>
            </a:extLst>
          </p:cNvPr>
          <p:cNvSpPr>
            <a:spLocks noGrp="1"/>
          </p:cNvSpPr>
          <p:nvPr>
            <p:ph type="dt" sz="half" idx="10"/>
          </p:nvPr>
        </p:nvSpPr>
        <p:spPr/>
        <p:txBody>
          <a:bodyPr/>
          <a:lstStyle/>
          <a:p>
            <a:fld id="{AFAFB76A-7120-43DF-9600-CDEB933F1F44}" type="datetimeFigureOut">
              <a:rPr lang="en-US" smtClean="0"/>
              <a:t>2/3/2026</a:t>
            </a:fld>
            <a:endParaRPr lang="en-US"/>
          </a:p>
        </p:txBody>
      </p:sp>
      <p:sp>
        <p:nvSpPr>
          <p:cNvPr id="5" name="Footer Placeholder 4">
            <a:extLst>
              <a:ext uri="{FF2B5EF4-FFF2-40B4-BE49-F238E27FC236}">
                <a16:creationId xmlns:a16="http://schemas.microsoft.com/office/drawing/2014/main" id="{9D6B7B51-FE13-81D5-AFBB-B183C2D7BE5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5B7F988-0E00-8EA0-1FC8-C80F375DEB26}"/>
              </a:ext>
            </a:extLst>
          </p:cNvPr>
          <p:cNvSpPr>
            <a:spLocks noGrp="1"/>
          </p:cNvSpPr>
          <p:nvPr>
            <p:ph type="sldNum" sz="quarter" idx="12"/>
          </p:nvPr>
        </p:nvSpPr>
        <p:spPr/>
        <p:txBody>
          <a:bodyPr/>
          <a:lstStyle/>
          <a:p>
            <a:fld id="{7B1C5B25-7951-4479-8D8F-23F057A4B220}" type="slidenum">
              <a:rPr lang="en-US" smtClean="0"/>
              <a:t>‹#›</a:t>
            </a:fld>
            <a:endParaRPr lang="en-US"/>
          </a:p>
        </p:txBody>
      </p:sp>
    </p:spTree>
    <p:extLst>
      <p:ext uri="{BB962C8B-B14F-4D97-AF65-F5344CB8AC3E}">
        <p14:creationId xmlns:p14="http://schemas.microsoft.com/office/powerpoint/2010/main" val="33528044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1606790-85D2-66D1-65FA-548D529CB2A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AA81D7C-9D98-2913-8179-1D736267459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86D09D4-A6DA-DB1E-2405-94DB974C59A3}"/>
              </a:ext>
            </a:extLst>
          </p:cNvPr>
          <p:cNvSpPr>
            <a:spLocks noGrp="1"/>
          </p:cNvSpPr>
          <p:nvPr>
            <p:ph type="dt" sz="half" idx="10"/>
          </p:nvPr>
        </p:nvSpPr>
        <p:spPr/>
        <p:txBody>
          <a:bodyPr/>
          <a:lstStyle/>
          <a:p>
            <a:fld id="{AFAFB76A-7120-43DF-9600-CDEB933F1F44}" type="datetimeFigureOut">
              <a:rPr lang="en-US" smtClean="0"/>
              <a:t>2/3/2026</a:t>
            </a:fld>
            <a:endParaRPr lang="en-US"/>
          </a:p>
        </p:txBody>
      </p:sp>
      <p:sp>
        <p:nvSpPr>
          <p:cNvPr id="5" name="Footer Placeholder 4">
            <a:extLst>
              <a:ext uri="{FF2B5EF4-FFF2-40B4-BE49-F238E27FC236}">
                <a16:creationId xmlns:a16="http://schemas.microsoft.com/office/drawing/2014/main" id="{16549357-EEC7-DB73-CDEA-9633B09637A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02D7707-DE66-89ED-70AF-F6A8F2EC1223}"/>
              </a:ext>
            </a:extLst>
          </p:cNvPr>
          <p:cNvSpPr>
            <a:spLocks noGrp="1"/>
          </p:cNvSpPr>
          <p:nvPr>
            <p:ph type="sldNum" sz="quarter" idx="12"/>
          </p:nvPr>
        </p:nvSpPr>
        <p:spPr/>
        <p:txBody>
          <a:bodyPr/>
          <a:lstStyle/>
          <a:p>
            <a:fld id="{7B1C5B25-7951-4479-8D8F-23F057A4B220}" type="slidenum">
              <a:rPr lang="en-US" smtClean="0"/>
              <a:t>‹#›</a:t>
            </a:fld>
            <a:endParaRPr lang="en-US"/>
          </a:p>
        </p:txBody>
      </p:sp>
    </p:spTree>
    <p:extLst>
      <p:ext uri="{BB962C8B-B14F-4D97-AF65-F5344CB8AC3E}">
        <p14:creationId xmlns:p14="http://schemas.microsoft.com/office/powerpoint/2010/main" val="38915237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DD16D4E-130D-1E0B-B9F9-7D29E7577EC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C521D2D-EDFF-CFC4-F8A4-3F9F89F456B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2CDD6F4-AD92-6C96-157A-7D874130222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FAFB76A-7120-43DF-9600-CDEB933F1F44}" type="datetimeFigureOut">
              <a:rPr lang="en-US" smtClean="0"/>
              <a:t>2/3/2026</a:t>
            </a:fld>
            <a:endParaRPr lang="en-US"/>
          </a:p>
        </p:txBody>
      </p:sp>
      <p:sp>
        <p:nvSpPr>
          <p:cNvPr id="5" name="Footer Placeholder 4">
            <a:extLst>
              <a:ext uri="{FF2B5EF4-FFF2-40B4-BE49-F238E27FC236}">
                <a16:creationId xmlns:a16="http://schemas.microsoft.com/office/drawing/2014/main" id="{5CA047CB-9538-DFA3-903F-F2DA661FFD5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31E498D4-BD5C-5574-B996-9AB405EF396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B1C5B25-7951-4479-8D8F-23F057A4B220}" type="slidenum">
              <a:rPr lang="en-US" smtClean="0"/>
              <a:t>‹#›</a:t>
            </a:fld>
            <a:endParaRPr lang="en-US"/>
          </a:p>
        </p:txBody>
      </p:sp>
    </p:spTree>
    <p:extLst>
      <p:ext uri="{BB962C8B-B14F-4D97-AF65-F5344CB8AC3E}">
        <p14:creationId xmlns:p14="http://schemas.microsoft.com/office/powerpoint/2010/main" val="4009943608"/>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698CBEE-A317-3BF2-8AEE-BFF5F0CC667F}"/>
              </a:ext>
            </a:extLst>
          </p:cNvPr>
          <p:cNvSpPr>
            <a:spLocks noGrp="1"/>
          </p:cNvSpPr>
          <p:nvPr>
            <p:ph type="subTitle" idx="1"/>
          </p:nvPr>
        </p:nvSpPr>
        <p:spPr>
          <a:xfrm>
            <a:off x="1524000" y="208344"/>
            <a:ext cx="9144000" cy="1473707"/>
          </a:xfrm>
        </p:spPr>
        <p:txBody>
          <a:bodyPr>
            <a:normAutofit/>
          </a:bodyPr>
          <a:lstStyle/>
          <a:p>
            <a:pPr algn="ctr"/>
            <a:r>
              <a:rPr lang="en-US" sz="4800" dirty="0"/>
              <a:t>MOVIELENS RECOMMENDATION SYSTEM</a:t>
            </a:r>
          </a:p>
        </p:txBody>
      </p:sp>
      <p:sp>
        <p:nvSpPr>
          <p:cNvPr id="4" name="TextBox 3">
            <a:extLst>
              <a:ext uri="{FF2B5EF4-FFF2-40B4-BE49-F238E27FC236}">
                <a16:creationId xmlns:a16="http://schemas.microsoft.com/office/drawing/2014/main" id="{C20B1725-815E-E880-6812-BD742685924E}"/>
              </a:ext>
            </a:extLst>
          </p:cNvPr>
          <p:cNvSpPr txBox="1"/>
          <p:nvPr/>
        </p:nvSpPr>
        <p:spPr>
          <a:xfrm>
            <a:off x="1654629" y="2561727"/>
            <a:ext cx="9307285" cy="3046988"/>
          </a:xfrm>
          <a:prstGeom prst="rect">
            <a:avLst/>
          </a:prstGeom>
          <a:noFill/>
        </p:spPr>
        <p:txBody>
          <a:bodyPr wrap="square" rtlCol="0">
            <a:spAutoFit/>
          </a:bodyPr>
          <a:lstStyle/>
          <a:p>
            <a:pPr algn="ctr"/>
            <a:r>
              <a:rPr lang="en-US" sz="3200" dirty="0"/>
              <a:t>GROUP 2 MEMBERS </a:t>
            </a:r>
          </a:p>
          <a:p>
            <a:pPr marL="514350" indent="-514350">
              <a:buFont typeface="+mj-lt"/>
              <a:buAutoNum type="arabicPeriod"/>
            </a:pPr>
            <a:r>
              <a:rPr lang="en-US" sz="3200" dirty="0"/>
              <a:t>James Owiti</a:t>
            </a:r>
          </a:p>
          <a:p>
            <a:pPr marL="514350" indent="-514350">
              <a:buFont typeface="+mj-lt"/>
              <a:buAutoNum type="arabicPeriod"/>
            </a:pPr>
            <a:r>
              <a:rPr lang="en-US" sz="3200" dirty="0"/>
              <a:t>Pelly </a:t>
            </a:r>
            <a:r>
              <a:rPr lang="en-US" sz="3200" dirty="0" err="1"/>
              <a:t>Kagwe</a:t>
            </a:r>
            <a:r>
              <a:rPr lang="en-US" sz="3200" dirty="0"/>
              <a:t> </a:t>
            </a:r>
          </a:p>
          <a:p>
            <a:pPr marL="514350" indent="-514350">
              <a:buFont typeface="+mj-lt"/>
              <a:buAutoNum type="arabicPeriod"/>
            </a:pPr>
            <a:r>
              <a:rPr lang="en-US" sz="3200" dirty="0"/>
              <a:t>Sheila Muli</a:t>
            </a:r>
          </a:p>
          <a:p>
            <a:pPr marL="514350" indent="-514350">
              <a:buFont typeface="+mj-lt"/>
              <a:buAutoNum type="arabicPeriod"/>
            </a:pPr>
            <a:r>
              <a:rPr lang="en-US" sz="3200" dirty="0"/>
              <a:t>Amos </a:t>
            </a:r>
            <a:r>
              <a:rPr lang="en-US" sz="3200" dirty="0" err="1"/>
              <a:t>Obaga</a:t>
            </a:r>
            <a:endParaRPr lang="en-US" sz="3200" dirty="0"/>
          </a:p>
          <a:p>
            <a:pPr marL="514350" indent="-514350">
              <a:buFont typeface="+mj-lt"/>
              <a:buAutoNum type="arabicPeriod"/>
            </a:pPr>
            <a:r>
              <a:rPr lang="en-US" sz="3200" dirty="0"/>
              <a:t>Nancy Muriithi</a:t>
            </a:r>
          </a:p>
        </p:txBody>
      </p:sp>
      <p:sp>
        <p:nvSpPr>
          <p:cNvPr id="2" name="TextBox 1">
            <a:extLst>
              <a:ext uri="{FF2B5EF4-FFF2-40B4-BE49-F238E27FC236}">
                <a16:creationId xmlns:a16="http://schemas.microsoft.com/office/drawing/2014/main" id="{46484D6F-DE5C-E89C-0E52-9B48F6127611}"/>
              </a:ext>
            </a:extLst>
          </p:cNvPr>
          <p:cNvSpPr txBox="1"/>
          <p:nvPr/>
        </p:nvSpPr>
        <p:spPr>
          <a:xfrm>
            <a:off x="2476982" y="1770927"/>
            <a:ext cx="7477246" cy="646331"/>
          </a:xfrm>
          <a:prstGeom prst="rect">
            <a:avLst/>
          </a:prstGeom>
          <a:noFill/>
        </p:spPr>
        <p:txBody>
          <a:bodyPr wrap="square" rtlCol="0">
            <a:spAutoFit/>
          </a:bodyPr>
          <a:lstStyle/>
          <a:p>
            <a:pPr algn="ctr"/>
            <a:r>
              <a:rPr lang="en-US" sz="3600" dirty="0"/>
              <a:t>Phase 4 DSC Group project</a:t>
            </a:r>
          </a:p>
        </p:txBody>
      </p:sp>
    </p:spTree>
    <p:extLst>
      <p:ext uri="{BB962C8B-B14F-4D97-AF65-F5344CB8AC3E}">
        <p14:creationId xmlns:p14="http://schemas.microsoft.com/office/powerpoint/2010/main" val="29504508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F310D3-BF11-01B9-FE1C-C8AD300B4026}"/>
              </a:ext>
            </a:extLst>
          </p:cNvPr>
          <p:cNvSpPr>
            <a:spLocks noGrp="1"/>
          </p:cNvSpPr>
          <p:nvPr>
            <p:ph type="title"/>
          </p:nvPr>
        </p:nvSpPr>
        <p:spPr>
          <a:xfrm>
            <a:off x="838200" y="365126"/>
            <a:ext cx="10515600" cy="962932"/>
          </a:xfrm>
        </p:spPr>
        <p:txBody>
          <a:bodyPr/>
          <a:lstStyle/>
          <a:p>
            <a:r>
              <a:rPr lang="en-US" b="1" u="sng" dirty="0"/>
              <a:t>General Overview</a:t>
            </a:r>
          </a:p>
        </p:txBody>
      </p:sp>
      <p:sp>
        <p:nvSpPr>
          <p:cNvPr id="3" name="Content Placeholder 2">
            <a:extLst>
              <a:ext uri="{FF2B5EF4-FFF2-40B4-BE49-F238E27FC236}">
                <a16:creationId xmlns:a16="http://schemas.microsoft.com/office/drawing/2014/main" id="{AA620F39-796D-6F7F-BA64-ACF6FBE28ACC}"/>
              </a:ext>
            </a:extLst>
          </p:cNvPr>
          <p:cNvSpPr>
            <a:spLocks noGrp="1"/>
          </p:cNvSpPr>
          <p:nvPr>
            <p:ph idx="1"/>
          </p:nvPr>
        </p:nvSpPr>
        <p:spPr>
          <a:xfrm>
            <a:off x="838200" y="1458687"/>
            <a:ext cx="10515600" cy="4419600"/>
          </a:xfrm>
        </p:spPr>
        <p:txBody>
          <a:bodyPr>
            <a:normAutofit fontScale="92500" lnSpcReduction="10000"/>
          </a:bodyPr>
          <a:lstStyle/>
          <a:p>
            <a:r>
              <a:rPr lang="en-US" dirty="0"/>
              <a:t>In today’s digital entertainment landscape, users are presented with thousands of movie choices across streaming platforms. This abundance of options often leads to decision fatigue, making it difficult for users to quickly find content that matches their preferences. Recommendation systems help solve this problem by filtering large volumes of data and delivering personalized suggestions that enhance user experience.</a:t>
            </a:r>
          </a:p>
          <a:p>
            <a:r>
              <a:rPr lang="en-US" dirty="0"/>
              <a:t>The goal of this project was to design and build a movie recommendation system using the </a:t>
            </a:r>
            <a:r>
              <a:rPr lang="en-US" dirty="0" err="1"/>
              <a:t>MovieLens</a:t>
            </a:r>
            <a:r>
              <a:rPr lang="en-US" dirty="0"/>
              <a:t> dataset. The system analyzes user ratings to identify patterns in viewing behavior and predict movies that a user is likely to enjoy. By leveraging collaborative filtering techniques, the model generates personalized recommendations based on similarities between users and their past ratings.</a:t>
            </a:r>
          </a:p>
          <a:p>
            <a:endParaRPr lang="en-US" dirty="0"/>
          </a:p>
        </p:txBody>
      </p:sp>
    </p:spTree>
    <p:extLst>
      <p:ext uri="{BB962C8B-B14F-4D97-AF65-F5344CB8AC3E}">
        <p14:creationId xmlns:p14="http://schemas.microsoft.com/office/powerpoint/2010/main" val="21531290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B666D8-52B4-3B7B-A432-28D04519A8D0}"/>
              </a:ext>
            </a:extLst>
          </p:cNvPr>
          <p:cNvSpPr>
            <a:spLocks noGrp="1"/>
          </p:cNvSpPr>
          <p:nvPr>
            <p:ph type="title"/>
          </p:nvPr>
        </p:nvSpPr>
        <p:spPr>
          <a:xfrm>
            <a:off x="838200" y="365125"/>
            <a:ext cx="10515600" cy="560161"/>
          </a:xfrm>
        </p:spPr>
        <p:txBody>
          <a:bodyPr>
            <a:normAutofit fontScale="90000"/>
          </a:bodyPr>
          <a:lstStyle/>
          <a:p>
            <a:r>
              <a:rPr lang="en-US" b="1" dirty="0"/>
              <a:t>BUSINESS UNDERSTANDING </a:t>
            </a:r>
          </a:p>
        </p:txBody>
      </p:sp>
      <p:sp>
        <p:nvSpPr>
          <p:cNvPr id="3" name="Content Placeholder 2">
            <a:extLst>
              <a:ext uri="{FF2B5EF4-FFF2-40B4-BE49-F238E27FC236}">
                <a16:creationId xmlns:a16="http://schemas.microsoft.com/office/drawing/2014/main" id="{EF9D9E8B-0C55-7AC8-98B0-687E09FB077B}"/>
              </a:ext>
            </a:extLst>
          </p:cNvPr>
          <p:cNvSpPr>
            <a:spLocks noGrp="1"/>
          </p:cNvSpPr>
          <p:nvPr>
            <p:ph idx="1"/>
          </p:nvPr>
        </p:nvSpPr>
        <p:spPr>
          <a:xfrm>
            <a:off x="838200" y="1110344"/>
            <a:ext cx="10515600" cy="5066620"/>
          </a:xfrm>
        </p:spPr>
        <p:txBody>
          <a:bodyPr>
            <a:normAutofit/>
          </a:bodyPr>
          <a:lstStyle/>
          <a:p>
            <a:pPr marL="0" indent="0">
              <a:buNone/>
            </a:pPr>
            <a:r>
              <a:rPr lang="en-US" sz="3600" b="1" i="1" u="sng" dirty="0"/>
              <a:t>Problem Statement</a:t>
            </a:r>
          </a:p>
          <a:p>
            <a:pPr marL="0" indent="0">
              <a:buNone/>
            </a:pPr>
            <a:r>
              <a:rPr lang="en-US" dirty="0"/>
              <a:t>Streaming platforms have thousands of movies, making it difficult for users to find content they enjoy. When users spend too much time searching, they get frustrated and stop using the service. To solve this, our project uses the </a:t>
            </a:r>
            <a:r>
              <a:rPr lang="en-US" dirty="0" err="1"/>
              <a:t>MovieLens</a:t>
            </a:r>
            <a:r>
              <a:rPr lang="en-US" dirty="0"/>
              <a:t> dataset to build a system that generates top-5 movie recommendations by learning patterns from users with similar preferences, making discovery faster and more personal.</a:t>
            </a:r>
          </a:p>
        </p:txBody>
      </p:sp>
    </p:spTree>
    <p:extLst>
      <p:ext uri="{BB962C8B-B14F-4D97-AF65-F5344CB8AC3E}">
        <p14:creationId xmlns:p14="http://schemas.microsoft.com/office/powerpoint/2010/main" val="7437525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913646-0F5A-B082-B2EE-F6E437A8ADA4}"/>
              </a:ext>
            </a:extLst>
          </p:cNvPr>
          <p:cNvSpPr>
            <a:spLocks noGrp="1"/>
          </p:cNvSpPr>
          <p:nvPr>
            <p:ph type="title"/>
          </p:nvPr>
        </p:nvSpPr>
        <p:spPr>
          <a:xfrm>
            <a:off x="838200" y="365126"/>
            <a:ext cx="10515600" cy="799646"/>
          </a:xfrm>
        </p:spPr>
        <p:txBody>
          <a:bodyPr>
            <a:normAutofit/>
          </a:bodyPr>
          <a:lstStyle/>
          <a:p>
            <a:r>
              <a:rPr lang="en-US" sz="4000" b="1" i="1" u="sng" dirty="0"/>
              <a:t>Objectives</a:t>
            </a:r>
          </a:p>
        </p:txBody>
      </p:sp>
      <p:sp>
        <p:nvSpPr>
          <p:cNvPr id="5" name="Rectangle 2">
            <a:extLst>
              <a:ext uri="{FF2B5EF4-FFF2-40B4-BE49-F238E27FC236}">
                <a16:creationId xmlns:a16="http://schemas.microsoft.com/office/drawing/2014/main" id="{4030E238-3FB4-1811-09A1-4CA66CA1E2E3}"/>
              </a:ext>
            </a:extLst>
          </p:cNvPr>
          <p:cNvSpPr>
            <a:spLocks noGrp="1" noChangeArrowheads="1"/>
          </p:cNvSpPr>
          <p:nvPr>
            <p:ph idx="1"/>
          </p:nvPr>
        </p:nvSpPr>
        <p:spPr bwMode="auto">
          <a:xfrm>
            <a:off x="838200" y="1333561"/>
            <a:ext cx="10515600"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rPr>
              <a:t>To build a movie recommendation system using the </a:t>
            </a:r>
            <a:r>
              <a:rPr kumimoji="0" lang="en-US" altLang="en-US" b="0" i="0" u="none" strike="noStrike" cap="none" normalizeH="0" baseline="0" dirty="0" err="1">
                <a:ln>
                  <a:noFill/>
                </a:ln>
                <a:solidFill>
                  <a:schemeClr val="tx1"/>
                </a:solidFill>
                <a:effectLst/>
              </a:rPr>
              <a:t>MovieLens</a:t>
            </a:r>
            <a:r>
              <a:rPr kumimoji="0" lang="en-US" altLang="en-US" b="0" i="0" u="none" strike="noStrike" cap="none" normalizeH="0" baseline="0" dirty="0">
                <a:ln>
                  <a:noFill/>
                </a:ln>
                <a:solidFill>
                  <a:schemeClr val="tx1"/>
                </a:solidFill>
                <a:effectLst/>
              </a:rPr>
              <a:t> dataset.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rPr>
              <a:t>To analyze user rating patterns to understand viewing preferences.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rPr>
              <a:t>To implement collaborative filtering techniques for personalized recommendations.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rPr>
              <a:t>To evaluate the model’s performance using appropriate metrics.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rPr>
              <a:t>To demonstrate how recommendation systems can improve user experience and support business growth.</a:t>
            </a:r>
          </a:p>
        </p:txBody>
      </p:sp>
    </p:spTree>
    <p:extLst>
      <p:ext uri="{BB962C8B-B14F-4D97-AF65-F5344CB8AC3E}">
        <p14:creationId xmlns:p14="http://schemas.microsoft.com/office/powerpoint/2010/main" val="27761100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FAB67DE-11FC-4332-405D-6E772E17DE61}"/>
              </a:ext>
            </a:extLst>
          </p:cNvPr>
          <p:cNvPicPr>
            <a:picLocks noChangeAspect="1"/>
          </p:cNvPicPr>
          <p:nvPr/>
        </p:nvPicPr>
        <p:blipFill>
          <a:blip r:embed="rId2"/>
          <a:stretch>
            <a:fillRect/>
          </a:stretch>
        </p:blipFill>
        <p:spPr>
          <a:xfrm>
            <a:off x="86956" y="2393546"/>
            <a:ext cx="4811486" cy="3733800"/>
          </a:xfrm>
          <a:prstGeom prst="rect">
            <a:avLst/>
          </a:prstGeom>
        </p:spPr>
      </p:pic>
      <p:sp>
        <p:nvSpPr>
          <p:cNvPr id="7" name="Title 6">
            <a:extLst>
              <a:ext uri="{FF2B5EF4-FFF2-40B4-BE49-F238E27FC236}">
                <a16:creationId xmlns:a16="http://schemas.microsoft.com/office/drawing/2014/main" id="{C29D3709-BF6C-2932-DB2A-EE11DA39D137}"/>
              </a:ext>
            </a:extLst>
          </p:cNvPr>
          <p:cNvSpPr>
            <a:spLocks noGrp="1"/>
          </p:cNvSpPr>
          <p:nvPr>
            <p:ph type="title"/>
          </p:nvPr>
        </p:nvSpPr>
        <p:spPr>
          <a:xfrm>
            <a:off x="391886" y="365126"/>
            <a:ext cx="10515600" cy="745218"/>
          </a:xfrm>
        </p:spPr>
        <p:txBody>
          <a:bodyPr/>
          <a:lstStyle/>
          <a:p>
            <a:r>
              <a:rPr lang="en-US" b="1" dirty="0"/>
              <a:t>DATA UNDESTANDING</a:t>
            </a:r>
          </a:p>
        </p:txBody>
      </p:sp>
      <p:sp>
        <p:nvSpPr>
          <p:cNvPr id="8" name="TextBox 7">
            <a:extLst>
              <a:ext uri="{FF2B5EF4-FFF2-40B4-BE49-F238E27FC236}">
                <a16:creationId xmlns:a16="http://schemas.microsoft.com/office/drawing/2014/main" id="{A5E7EAA0-7061-8C29-F488-7505FB130112}"/>
              </a:ext>
            </a:extLst>
          </p:cNvPr>
          <p:cNvSpPr txBox="1"/>
          <p:nvPr/>
        </p:nvSpPr>
        <p:spPr>
          <a:xfrm>
            <a:off x="266700" y="1110344"/>
            <a:ext cx="11010900" cy="1200329"/>
          </a:xfrm>
          <a:prstGeom prst="rect">
            <a:avLst/>
          </a:prstGeom>
          <a:noFill/>
        </p:spPr>
        <p:txBody>
          <a:bodyPr wrap="square" rtlCol="0">
            <a:spAutoFit/>
          </a:bodyPr>
          <a:lstStyle/>
          <a:p>
            <a:r>
              <a:rPr lang="en-US" sz="2400" i="1" u="sng" dirty="0"/>
              <a:t>Data Source</a:t>
            </a:r>
          </a:p>
          <a:p>
            <a:r>
              <a:rPr lang="en-US" sz="2400" dirty="0"/>
              <a:t>We utilized the </a:t>
            </a:r>
            <a:r>
              <a:rPr lang="en-US" sz="2400" dirty="0" err="1"/>
              <a:t>MovieLens</a:t>
            </a:r>
            <a:r>
              <a:rPr lang="en-US" sz="2400" dirty="0"/>
              <a:t> "small" dataset, consisting of 100,836 ratings, 9,724 movies, and 610 unique users</a:t>
            </a:r>
            <a:r>
              <a:rPr lang="en-US" dirty="0"/>
              <a:t>.</a:t>
            </a:r>
          </a:p>
        </p:txBody>
      </p:sp>
      <p:sp>
        <p:nvSpPr>
          <p:cNvPr id="9" name="TextBox 8">
            <a:extLst>
              <a:ext uri="{FF2B5EF4-FFF2-40B4-BE49-F238E27FC236}">
                <a16:creationId xmlns:a16="http://schemas.microsoft.com/office/drawing/2014/main" id="{77855F8A-20E4-0B58-C46B-8B03CFC4E71C}"/>
              </a:ext>
            </a:extLst>
          </p:cNvPr>
          <p:cNvSpPr txBox="1"/>
          <p:nvPr/>
        </p:nvSpPr>
        <p:spPr>
          <a:xfrm>
            <a:off x="5116286" y="2100944"/>
            <a:ext cx="6694714" cy="4702886"/>
          </a:xfrm>
          <a:prstGeom prst="rect">
            <a:avLst/>
          </a:prstGeom>
          <a:noFill/>
        </p:spPr>
        <p:txBody>
          <a:bodyPr wrap="square" rtlCol="0">
            <a:spAutoFit/>
          </a:bodyPr>
          <a:lstStyle/>
          <a:p>
            <a:pPr>
              <a:buNone/>
            </a:pPr>
            <a:r>
              <a:rPr lang="en-US" sz="2400" b="1" u="sng" dirty="0"/>
              <a:t>Data Quality Assessment</a:t>
            </a:r>
            <a:endParaRPr lang="en-US" sz="2400" u="sng" dirty="0"/>
          </a:p>
          <a:p>
            <a:pPr>
              <a:buFont typeface="Arial" panose="020B0604020202020204" pitchFamily="34" charset="0"/>
              <a:buChar char="•"/>
            </a:pPr>
            <a:r>
              <a:rPr lang="en-US" sz="2400" b="1" dirty="0"/>
              <a:t>Completeness:</a:t>
            </a:r>
            <a:r>
              <a:rPr lang="en-US" sz="2400" dirty="0"/>
              <a:t> Checked for missing values (None found).</a:t>
            </a:r>
          </a:p>
          <a:p>
            <a:pPr>
              <a:buFont typeface="Arial" panose="020B0604020202020204" pitchFamily="34" charset="0"/>
              <a:buChar char="•"/>
            </a:pPr>
            <a:r>
              <a:rPr lang="en-US" sz="2400" b="1" dirty="0"/>
              <a:t>Consistency:</a:t>
            </a:r>
            <a:r>
              <a:rPr lang="en-US" sz="2400" dirty="0"/>
              <a:t> Verified that all ratings fall within the standard 0.5–5.0 range.</a:t>
            </a:r>
          </a:p>
          <a:p>
            <a:pPr>
              <a:buFont typeface="Arial" panose="020B0604020202020204" pitchFamily="34" charset="0"/>
              <a:buChar char="•"/>
            </a:pPr>
            <a:r>
              <a:rPr lang="en-US" sz="2400" b="1" dirty="0"/>
              <a:t>Format:</a:t>
            </a:r>
            <a:r>
              <a:rPr lang="en-US" sz="2400" dirty="0"/>
              <a:t> Confirmed data types are correct (Integers for IDs, Floats for ratings).</a:t>
            </a:r>
          </a:p>
          <a:p>
            <a:pPr>
              <a:buFont typeface="Arial" panose="020B0604020202020204" pitchFamily="34" charset="0"/>
              <a:buChar char="•"/>
            </a:pPr>
            <a:r>
              <a:rPr lang="en-US" sz="2400" b="1" dirty="0"/>
              <a:t>Uniqueness:</a:t>
            </a:r>
            <a:r>
              <a:rPr lang="en-US" sz="2400" dirty="0"/>
              <a:t> Checked for and removed any duplicate user-movie interactions.</a:t>
            </a:r>
          </a:p>
          <a:p>
            <a:pPr>
              <a:buFont typeface="Arial" panose="020B0604020202020204" pitchFamily="34" charset="0"/>
              <a:buChar char="•"/>
            </a:pPr>
            <a:r>
              <a:rPr lang="en-US" sz="2400" b="1" dirty="0"/>
              <a:t>Sparsity:</a:t>
            </a:r>
            <a:r>
              <a:rPr lang="en-US" sz="2400" dirty="0"/>
              <a:t> Identified a 98.3% sparsity rate, meaning most users have only rated a small fraction of the total movies available</a:t>
            </a:r>
            <a:r>
              <a:rPr lang="en-US" dirty="0"/>
              <a:t>.</a:t>
            </a:r>
          </a:p>
        </p:txBody>
      </p:sp>
    </p:spTree>
    <p:extLst>
      <p:ext uri="{BB962C8B-B14F-4D97-AF65-F5344CB8AC3E}">
        <p14:creationId xmlns:p14="http://schemas.microsoft.com/office/powerpoint/2010/main" val="22687369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3937DE-A0A2-BA32-8461-606518A752DF}"/>
              </a:ext>
            </a:extLst>
          </p:cNvPr>
          <p:cNvSpPr>
            <a:spLocks noGrp="1"/>
          </p:cNvSpPr>
          <p:nvPr>
            <p:ph type="title"/>
          </p:nvPr>
        </p:nvSpPr>
        <p:spPr>
          <a:xfrm>
            <a:off x="838200" y="365125"/>
            <a:ext cx="10515600" cy="747579"/>
          </a:xfrm>
        </p:spPr>
        <p:txBody>
          <a:bodyPr/>
          <a:lstStyle/>
          <a:p>
            <a:r>
              <a:rPr lang="en-US" b="1" dirty="0"/>
              <a:t>DATA PREPARATION</a:t>
            </a:r>
          </a:p>
        </p:txBody>
      </p:sp>
      <p:sp>
        <p:nvSpPr>
          <p:cNvPr id="4" name="TextBox 3">
            <a:extLst>
              <a:ext uri="{FF2B5EF4-FFF2-40B4-BE49-F238E27FC236}">
                <a16:creationId xmlns:a16="http://schemas.microsoft.com/office/drawing/2014/main" id="{0C894019-8AC1-F32A-858A-9AFFD0EF66CC}"/>
              </a:ext>
            </a:extLst>
          </p:cNvPr>
          <p:cNvSpPr txBox="1"/>
          <p:nvPr/>
        </p:nvSpPr>
        <p:spPr>
          <a:xfrm>
            <a:off x="1121884" y="1265104"/>
            <a:ext cx="10384316" cy="5122843"/>
          </a:xfrm>
          <a:prstGeom prst="rect">
            <a:avLst/>
          </a:prstGeom>
          <a:noFill/>
        </p:spPr>
        <p:txBody>
          <a:bodyPr wrap="square" rtlCol="0">
            <a:spAutoFit/>
          </a:bodyPr>
          <a:lstStyle/>
          <a:p>
            <a:endParaRPr lang="en-US" dirty="0"/>
          </a:p>
        </p:txBody>
      </p:sp>
      <p:pic>
        <p:nvPicPr>
          <p:cNvPr id="6" name="Picture 5">
            <a:extLst>
              <a:ext uri="{FF2B5EF4-FFF2-40B4-BE49-F238E27FC236}">
                <a16:creationId xmlns:a16="http://schemas.microsoft.com/office/drawing/2014/main" id="{55E6FB7E-0496-33F4-ACF4-5ACE4F8D9575}"/>
              </a:ext>
            </a:extLst>
          </p:cNvPr>
          <p:cNvPicPr>
            <a:picLocks noChangeAspect="1"/>
          </p:cNvPicPr>
          <p:nvPr/>
        </p:nvPicPr>
        <p:blipFill>
          <a:blip r:embed="rId2"/>
          <a:stretch>
            <a:fillRect/>
          </a:stretch>
        </p:blipFill>
        <p:spPr>
          <a:xfrm>
            <a:off x="384651" y="1907756"/>
            <a:ext cx="11246428" cy="4632591"/>
          </a:xfrm>
          <a:prstGeom prst="rect">
            <a:avLst/>
          </a:prstGeom>
        </p:spPr>
      </p:pic>
      <p:sp>
        <p:nvSpPr>
          <p:cNvPr id="7" name="TextBox 6">
            <a:extLst>
              <a:ext uri="{FF2B5EF4-FFF2-40B4-BE49-F238E27FC236}">
                <a16:creationId xmlns:a16="http://schemas.microsoft.com/office/drawing/2014/main" id="{81515A3F-15EC-288B-4F32-B16389EA2767}"/>
              </a:ext>
            </a:extLst>
          </p:cNvPr>
          <p:cNvSpPr txBox="1"/>
          <p:nvPr/>
        </p:nvSpPr>
        <p:spPr>
          <a:xfrm>
            <a:off x="407624" y="1013552"/>
            <a:ext cx="10814892" cy="830997"/>
          </a:xfrm>
          <a:prstGeom prst="rect">
            <a:avLst/>
          </a:prstGeom>
          <a:noFill/>
        </p:spPr>
        <p:txBody>
          <a:bodyPr wrap="square" rtlCol="0">
            <a:spAutoFit/>
          </a:bodyPr>
          <a:lstStyle/>
          <a:p>
            <a:r>
              <a:rPr lang="en-US" sz="2400" dirty="0"/>
              <a:t>Data preparation involved cleaning, structuring, and transforming the </a:t>
            </a:r>
            <a:r>
              <a:rPr lang="en-US" sz="2400" dirty="0" err="1"/>
              <a:t>MovieLens</a:t>
            </a:r>
            <a:r>
              <a:rPr lang="en-US" sz="2400" dirty="0"/>
              <a:t> dataset to make it suitable for building an accurate recommendation system</a:t>
            </a:r>
            <a:r>
              <a:rPr lang="en-US" dirty="0"/>
              <a:t>.</a:t>
            </a:r>
          </a:p>
        </p:txBody>
      </p:sp>
    </p:spTree>
    <p:extLst>
      <p:ext uri="{BB962C8B-B14F-4D97-AF65-F5344CB8AC3E}">
        <p14:creationId xmlns:p14="http://schemas.microsoft.com/office/powerpoint/2010/main" val="878514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90D1C14-F9DB-099B-3C5C-1258AEE58171}"/>
              </a:ext>
            </a:extLst>
          </p:cNvPr>
          <p:cNvSpPr>
            <a:spLocks noGrp="1"/>
          </p:cNvSpPr>
          <p:nvPr>
            <p:ph type="title"/>
          </p:nvPr>
        </p:nvSpPr>
        <p:spPr>
          <a:xfrm>
            <a:off x="330506" y="816817"/>
            <a:ext cx="10880075" cy="758595"/>
          </a:xfrm>
        </p:spPr>
        <p:txBody>
          <a:bodyPr/>
          <a:lstStyle/>
          <a:p>
            <a:r>
              <a:rPr lang="en-US" b="1" dirty="0"/>
              <a:t>Exploratory Data Analysis</a:t>
            </a:r>
          </a:p>
        </p:txBody>
      </p:sp>
      <p:sp>
        <p:nvSpPr>
          <p:cNvPr id="5" name="TextBox 4">
            <a:extLst>
              <a:ext uri="{FF2B5EF4-FFF2-40B4-BE49-F238E27FC236}">
                <a16:creationId xmlns:a16="http://schemas.microsoft.com/office/drawing/2014/main" id="{642D2EE8-28ED-8AC2-89AD-9CAF4BDC5179}"/>
              </a:ext>
            </a:extLst>
          </p:cNvPr>
          <p:cNvSpPr txBox="1"/>
          <p:nvPr/>
        </p:nvSpPr>
        <p:spPr>
          <a:xfrm>
            <a:off x="499431" y="1838249"/>
            <a:ext cx="11193137" cy="2246769"/>
          </a:xfrm>
          <a:prstGeom prst="rect">
            <a:avLst/>
          </a:prstGeom>
          <a:noFill/>
        </p:spPr>
        <p:txBody>
          <a:bodyPr wrap="square" rtlCol="0">
            <a:spAutoFit/>
          </a:bodyPr>
          <a:lstStyle/>
          <a:p>
            <a:pPr marL="457200" indent="-457200">
              <a:buFont typeface="Arial" panose="020B0604020202020204" pitchFamily="34" charset="0"/>
              <a:buChar char="•"/>
            </a:pPr>
            <a:r>
              <a:rPr lang="en-US" sz="2800" dirty="0"/>
              <a:t>The goal of EDA is to uncover hidden patterns, detect anomalies (like outliers), and check our assumptions. By analyzing the relationships between users, movies, and ratings through six key visualizations, we gain the necessary insights to ensure our model is built on a solid understanding of user behavior</a:t>
            </a:r>
            <a:r>
              <a:rPr lang="en-US" sz="2400" dirty="0"/>
              <a:t>.</a:t>
            </a:r>
          </a:p>
        </p:txBody>
      </p:sp>
    </p:spTree>
    <p:extLst>
      <p:ext uri="{BB962C8B-B14F-4D97-AF65-F5344CB8AC3E}">
        <p14:creationId xmlns:p14="http://schemas.microsoft.com/office/powerpoint/2010/main" val="29394575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1BD936-3867-5EE4-0B1C-CC5B756B2FBA}"/>
              </a:ext>
            </a:extLst>
          </p:cNvPr>
          <p:cNvSpPr>
            <a:spLocks noGrp="1"/>
          </p:cNvSpPr>
          <p:nvPr>
            <p:ph type="title"/>
          </p:nvPr>
        </p:nvSpPr>
        <p:spPr>
          <a:xfrm>
            <a:off x="220337" y="365126"/>
            <a:ext cx="11133463" cy="637410"/>
          </a:xfrm>
        </p:spPr>
        <p:txBody>
          <a:bodyPr>
            <a:normAutofit fontScale="90000"/>
          </a:bodyPr>
          <a:lstStyle/>
          <a:p>
            <a:r>
              <a:rPr lang="en-US" dirty="0"/>
              <a:t>1. Rating Distribution</a:t>
            </a:r>
          </a:p>
        </p:txBody>
      </p:sp>
      <p:pic>
        <p:nvPicPr>
          <p:cNvPr id="5" name="Picture 4">
            <a:extLst>
              <a:ext uri="{FF2B5EF4-FFF2-40B4-BE49-F238E27FC236}">
                <a16:creationId xmlns:a16="http://schemas.microsoft.com/office/drawing/2014/main" id="{2C7F5EC6-FAFB-823D-C43F-95C70A561B90}"/>
              </a:ext>
            </a:extLst>
          </p:cNvPr>
          <p:cNvPicPr>
            <a:picLocks noChangeAspect="1"/>
          </p:cNvPicPr>
          <p:nvPr/>
        </p:nvPicPr>
        <p:blipFill>
          <a:blip r:embed="rId2"/>
          <a:stretch>
            <a:fillRect/>
          </a:stretch>
        </p:blipFill>
        <p:spPr>
          <a:xfrm>
            <a:off x="357539" y="1187575"/>
            <a:ext cx="10859058" cy="4064209"/>
          </a:xfrm>
          <a:prstGeom prst="rect">
            <a:avLst/>
          </a:prstGeom>
        </p:spPr>
      </p:pic>
    </p:spTree>
    <p:extLst>
      <p:ext uri="{BB962C8B-B14F-4D97-AF65-F5344CB8AC3E}">
        <p14:creationId xmlns:p14="http://schemas.microsoft.com/office/powerpoint/2010/main" val="2580782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B3585A6-4F95-FA73-79D0-D98640CBE7FA}"/>
              </a:ext>
            </a:extLst>
          </p:cNvPr>
          <p:cNvSpPr txBox="1"/>
          <p:nvPr/>
        </p:nvSpPr>
        <p:spPr>
          <a:xfrm>
            <a:off x="749147" y="396607"/>
            <a:ext cx="9981282" cy="5262979"/>
          </a:xfrm>
          <a:prstGeom prst="rect">
            <a:avLst/>
          </a:prstGeom>
          <a:noFill/>
        </p:spPr>
        <p:txBody>
          <a:bodyPr wrap="square" rtlCol="0">
            <a:spAutoFit/>
          </a:bodyPr>
          <a:lstStyle/>
          <a:p>
            <a:r>
              <a:rPr lang="en-US" sz="2400" b="1" dirty="0"/>
              <a:t>Key Insights: </a:t>
            </a:r>
          </a:p>
          <a:p>
            <a:pPr marL="342900" indent="-342900">
              <a:buFont typeface="Arial" panose="020B0604020202020204" pitchFamily="34" charset="0"/>
              <a:buChar char="•"/>
            </a:pPr>
            <a:r>
              <a:rPr lang="en-US" sz="2400" b="1" dirty="0"/>
              <a:t>Positive Sentiment Bias:</a:t>
            </a:r>
            <a:r>
              <a:rPr lang="en-US" sz="2400" dirty="0"/>
              <a:t> The data is heavily skewed toward higher ratings, with a significant majority of users giving scores of </a:t>
            </a:r>
            <a:r>
              <a:rPr lang="en-US" sz="2400" b="1" dirty="0"/>
              <a:t>3.0 or above</a:t>
            </a:r>
            <a:r>
              <a:rPr lang="en-US" sz="2400" dirty="0"/>
              <a:t>.</a:t>
            </a:r>
          </a:p>
          <a:p>
            <a:pPr marL="342900" indent="-342900">
              <a:buFont typeface="Arial" panose="020B0604020202020204" pitchFamily="34" charset="0"/>
              <a:buChar char="•"/>
            </a:pPr>
            <a:r>
              <a:rPr lang="en-US" sz="2400" b="1" dirty="0"/>
              <a:t>Most Frequent Rating:</a:t>
            </a:r>
            <a:r>
              <a:rPr lang="en-US" sz="2400" dirty="0"/>
              <a:t> The most common score given by users is </a:t>
            </a:r>
            <a:r>
              <a:rPr lang="en-US" sz="2400" b="1" dirty="0"/>
              <a:t>4.0</a:t>
            </a:r>
            <a:r>
              <a:rPr lang="en-US" sz="2400" dirty="0"/>
              <a:t>, accounting for </a:t>
            </a:r>
            <a:r>
              <a:rPr lang="en-US" sz="2400" b="1" dirty="0"/>
              <a:t>26.6%</a:t>
            </a:r>
            <a:r>
              <a:rPr lang="en-US" sz="2400" dirty="0"/>
              <a:t> of all ratings in the dataset.</a:t>
            </a:r>
          </a:p>
          <a:p>
            <a:pPr marL="342900" indent="-342900">
              <a:buFont typeface="Arial" panose="020B0604020202020204" pitchFamily="34" charset="0"/>
              <a:buChar char="•"/>
            </a:pPr>
            <a:r>
              <a:rPr lang="en-US" sz="2400" b="1" dirty="0"/>
              <a:t>Engagement Threshold:</a:t>
            </a:r>
            <a:r>
              <a:rPr lang="en-US" sz="2400" dirty="0"/>
              <a:t> Ratings of 3.0, 3.5, and 4.0 make up nearly </a:t>
            </a:r>
            <a:r>
              <a:rPr lang="en-US" sz="2400" b="1" dirty="0"/>
              <a:t>60%</a:t>
            </a:r>
            <a:r>
              <a:rPr lang="en-US" sz="2400" dirty="0"/>
              <a:t> of the total volume, suggesting that users are more likely to rate movies they actually enjoyed rather than those they disliked.</a:t>
            </a:r>
          </a:p>
          <a:p>
            <a:pPr marL="342900" indent="-342900">
              <a:buFont typeface="Arial" panose="020B0604020202020204" pitchFamily="34" charset="0"/>
              <a:buChar char="•"/>
            </a:pPr>
            <a:r>
              <a:rPr lang="en-US" sz="2400" b="1" dirty="0"/>
              <a:t>Low Negative Feedback:</a:t>
            </a:r>
            <a:r>
              <a:rPr lang="en-US" sz="2400" dirty="0"/>
              <a:t> Extreme negative ratings (</a:t>
            </a:r>
            <a:r>
              <a:rPr lang="en-US" sz="2400" b="1" dirty="0"/>
              <a:t>0.5 to 1.5</a:t>
            </a:r>
            <a:r>
              <a:rPr lang="en-US" sz="2400" dirty="0"/>
              <a:t>) are rare, representing only a small fraction of the data. This indicates that the system primarily learns from "positive" preferences.</a:t>
            </a:r>
          </a:p>
          <a:p>
            <a:pPr marL="342900" indent="-342900">
              <a:buFont typeface="Arial" panose="020B0604020202020204" pitchFamily="34" charset="0"/>
              <a:buChar char="•"/>
            </a:pPr>
            <a:r>
              <a:rPr lang="en-US" sz="2400" b="1" dirty="0"/>
              <a:t>Data Density:</a:t>
            </a:r>
            <a:r>
              <a:rPr lang="en-US" sz="2400" dirty="0"/>
              <a:t> The average count per rating level is </a:t>
            </a:r>
            <a:r>
              <a:rPr lang="en-US" sz="2400" b="1" dirty="0"/>
              <a:t>10,084</a:t>
            </a:r>
            <a:r>
              <a:rPr lang="en-US" sz="2400" dirty="0"/>
              <a:t>, but the 4.0 rating significantly exceeds this average, acting as a major anchor for the recommendation model</a:t>
            </a:r>
            <a:r>
              <a:rPr lang="en-US" dirty="0"/>
              <a:t>.</a:t>
            </a:r>
          </a:p>
        </p:txBody>
      </p:sp>
    </p:spTree>
    <p:extLst>
      <p:ext uri="{BB962C8B-B14F-4D97-AF65-F5344CB8AC3E}">
        <p14:creationId xmlns:p14="http://schemas.microsoft.com/office/powerpoint/2010/main" val="5364617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F803B4-773F-0D39-91E8-26316B9035F0}"/>
              </a:ext>
            </a:extLst>
          </p:cNvPr>
          <p:cNvSpPr>
            <a:spLocks noGrp="1"/>
          </p:cNvSpPr>
          <p:nvPr>
            <p:ph type="title"/>
          </p:nvPr>
        </p:nvSpPr>
        <p:spPr>
          <a:xfrm>
            <a:off x="838200" y="254957"/>
            <a:ext cx="10515600" cy="813680"/>
          </a:xfrm>
        </p:spPr>
        <p:txBody>
          <a:bodyPr/>
          <a:lstStyle/>
          <a:p>
            <a:r>
              <a:rPr lang="en-US" dirty="0"/>
              <a:t>2. User Activity Analysis</a:t>
            </a:r>
          </a:p>
        </p:txBody>
      </p:sp>
      <p:pic>
        <p:nvPicPr>
          <p:cNvPr id="5" name="Picture 4">
            <a:extLst>
              <a:ext uri="{FF2B5EF4-FFF2-40B4-BE49-F238E27FC236}">
                <a16:creationId xmlns:a16="http://schemas.microsoft.com/office/drawing/2014/main" id="{D1F49D49-3B36-FEC1-5505-0B118A833FE9}"/>
              </a:ext>
            </a:extLst>
          </p:cNvPr>
          <p:cNvPicPr>
            <a:picLocks noChangeAspect="1"/>
          </p:cNvPicPr>
          <p:nvPr/>
        </p:nvPicPr>
        <p:blipFill>
          <a:blip r:embed="rId2"/>
          <a:stretch>
            <a:fillRect/>
          </a:stretch>
        </p:blipFill>
        <p:spPr>
          <a:xfrm>
            <a:off x="838200" y="1261433"/>
            <a:ext cx="10295722" cy="4013811"/>
          </a:xfrm>
          <a:prstGeom prst="rect">
            <a:avLst/>
          </a:prstGeom>
        </p:spPr>
      </p:pic>
      <p:sp>
        <p:nvSpPr>
          <p:cNvPr id="6" name="TextBox 5">
            <a:extLst>
              <a:ext uri="{FF2B5EF4-FFF2-40B4-BE49-F238E27FC236}">
                <a16:creationId xmlns:a16="http://schemas.microsoft.com/office/drawing/2014/main" id="{CA261A6E-4CA6-5420-C8B2-72801596D51D}"/>
              </a:ext>
            </a:extLst>
          </p:cNvPr>
          <p:cNvSpPr txBox="1"/>
          <p:nvPr/>
        </p:nvSpPr>
        <p:spPr>
          <a:xfrm>
            <a:off x="1244906" y="5585552"/>
            <a:ext cx="10295722" cy="1200329"/>
          </a:xfrm>
          <a:prstGeom prst="rect">
            <a:avLst/>
          </a:prstGeom>
          <a:noFill/>
        </p:spPr>
        <p:txBody>
          <a:bodyPr wrap="square" rtlCol="0">
            <a:spAutoFit/>
          </a:bodyPr>
          <a:lstStyle/>
          <a:p>
            <a:r>
              <a:rPr lang="en-US" sz="2400" dirty="0"/>
              <a:t>User activity is highly variable. Most users rate 20-200 movies, but some power users rate 1000+ movies. This variability is good for collaborative filtering as it provides both broad coverage and deep preferences</a:t>
            </a:r>
            <a:r>
              <a:rPr lang="en-US" sz="2000" dirty="0"/>
              <a:t>.</a:t>
            </a:r>
          </a:p>
        </p:txBody>
      </p:sp>
    </p:spTree>
    <p:extLst>
      <p:ext uri="{BB962C8B-B14F-4D97-AF65-F5344CB8AC3E}">
        <p14:creationId xmlns:p14="http://schemas.microsoft.com/office/powerpoint/2010/main" val="13049555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9BC003-45CA-00BD-8E07-E70F810A1D8D}"/>
              </a:ext>
            </a:extLst>
          </p:cNvPr>
          <p:cNvSpPr>
            <a:spLocks noGrp="1"/>
          </p:cNvSpPr>
          <p:nvPr>
            <p:ph type="title"/>
          </p:nvPr>
        </p:nvSpPr>
        <p:spPr>
          <a:xfrm>
            <a:off x="838200" y="365126"/>
            <a:ext cx="10515600" cy="736562"/>
          </a:xfrm>
        </p:spPr>
        <p:txBody>
          <a:bodyPr/>
          <a:lstStyle/>
          <a:p>
            <a:r>
              <a:rPr lang="en-US" dirty="0"/>
              <a:t>Movie Popularity Analysis</a:t>
            </a:r>
          </a:p>
        </p:txBody>
      </p:sp>
      <p:pic>
        <p:nvPicPr>
          <p:cNvPr id="5" name="Picture 4">
            <a:extLst>
              <a:ext uri="{FF2B5EF4-FFF2-40B4-BE49-F238E27FC236}">
                <a16:creationId xmlns:a16="http://schemas.microsoft.com/office/drawing/2014/main" id="{6FCA31CA-72C8-B50D-1CA3-83978A9E257A}"/>
              </a:ext>
            </a:extLst>
          </p:cNvPr>
          <p:cNvPicPr>
            <a:picLocks noChangeAspect="1"/>
          </p:cNvPicPr>
          <p:nvPr/>
        </p:nvPicPr>
        <p:blipFill>
          <a:blip r:embed="rId2"/>
          <a:stretch>
            <a:fillRect/>
          </a:stretch>
        </p:blipFill>
        <p:spPr>
          <a:xfrm>
            <a:off x="838200" y="1322024"/>
            <a:ext cx="10020300" cy="3783376"/>
          </a:xfrm>
          <a:prstGeom prst="rect">
            <a:avLst/>
          </a:prstGeom>
        </p:spPr>
      </p:pic>
    </p:spTree>
    <p:extLst>
      <p:ext uri="{BB962C8B-B14F-4D97-AF65-F5344CB8AC3E}">
        <p14:creationId xmlns:p14="http://schemas.microsoft.com/office/powerpoint/2010/main" val="12640420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A2B0D6C-41BB-97A2-24CB-FED3434487CD}"/>
              </a:ext>
            </a:extLst>
          </p:cNvPr>
          <p:cNvSpPr txBox="1"/>
          <p:nvPr/>
        </p:nvSpPr>
        <p:spPr>
          <a:xfrm>
            <a:off x="1068636" y="870333"/>
            <a:ext cx="9937215" cy="5262979"/>
          </a:xfrm>
          <a:prstGeom prst="rect">
            <a:avLst/>
          </a:prstGeom>
          <a:noFill/>
        </p:spPr>
        <p:txBody>
          <a:bodyPr wrap="square" rtlCol="0">
            <a:spAutoFit/>
          </a:bodyPr>
          <a:lstStyle/>
          <a:p>
            <a:pPr>
              <a:buNone/>
            </a:pPr>
            <a:r>
              <a:rPr lang="en-US" sz="2400" b="1" dirty="0"/>
              <a:t>Key Insights: </a:t>
            </a:r>
          </a:p>
          <a:p>
            <a:pPr>
              <a:buNone/>
            </a:pPr>
            <a:r>
              <a:rPr lang="en-US" sz="2400" b="1" dirty="0"/>
              <a:t>Engagement Anchors:</a:t>
            </a:r>
            <a:r>
              <a:rPr lang="en-US" sz="2400" dirty="0"/>
              <a:t> A small group of "Blockbuster" titles (e.g., </a:t>
            </a:r>
            <a:r>
              <a:rPr lang="en-US" sz="2400" i="1" dirty="0"/>
              <a:t>Forrest Gump</a:t>
            </a:r>
            <a:r>
              <a:rPr lang="en-US" sz="2400" dirty="0"/>
              <a:t>) drives the highest volume of ratings, acting as the platform's primary traffic drivers.</a:t>
            </a:r>
          </a:p>
          <a:p>
            <a:pPr>
              <a:buFont typeface="Arial" panose="020B0604020202020204" pitchFamily="34" charset="0"/>
              <a:buChar char="•"/>
            </a:pPr>
            <a:r>
              <a:rPr lang="en-US" sz="2400" b="1" dirty="0"/>
              <a:t>Quality vs. Quantity:</a:t>
            </a:r>
            <a:r>
              <a:rPr lang="en-US" sz="2400" dirty="0"/>
              <a:t> There is a positive correlation between popularity and score; most highly-rated movies also have the highest number of reviews (</a:t>
            </a:r>
            <a:r>
              <a:rPr lang="en-US" sz="2400" b="1" dirty="0"/>
              <a:t>3.5+ stars</a:t>
            </a:r>
            <a:r>
              <a:rPr lang="en-US" sz="2400" dirty="0"/>
              <a:t>).</a:t>
            </a:r>
          </a:p>
          <a:p>
            <a:pPr>
              <a:buFont typeface="Arial" panose="020B0604020202020204" pitchFamily="34" charset="0"/>
              <a:buChar char="•"/>
            </a:pPr>
            <a:r>
              <a:rPr lang="en-US" sz="2400" b="1" dirty="0"/>
              <a:t>Genre Dominance:</a:t>
            </a:r>
            <a:r>
              <a:rPr lang="en-US" sz="2400" dirty="0"/>
              <a:t> Popularity is concentrated in </a:t>
            </a:r>
            <a:r>
              <a:rPr lang="en-US" sz="2400" b="1" dirty="0"/>
              <a:t>Drama, Comedy, and Action</a:t>
            </a:r>
            <a:r>
              <a:rPr lang="en-US" sz="2400" dirty="0"/>
              <a:t>, which generate the most consistent user interaction.</a:t>
            </a:r>
          </a:p>
          <a:p>
            <a:pPr>
              <a:buFont typeface="Arial" panose="020B0604020202020204" pitchFamily="34" charset="0"/>
              <a:buChar char="•"/>
            </a:pPr>
            <a:r>
              <a:rPr lang="en-US" sz="2400" b="1" dirty="0"/>
              <a:t>The Long Tail:</a:t>
            </a:r>
            <a:r>
              <a:rPr lang="en-US" sz="2400" dirty="0"/>
              <a:t> While a few movies are hits, the vast majority have very few ratings. This confirms the need for a recommendation system to surface "hidden gems."</a:t>
            </a:r>
          </a:p>
          <a:p>
            <a:pPr>
              <a:buFont typeface="Arial" panose="020B0604020202020204" pitchFamily="34" charset="0"/>
              <a:buChar char="•"/>
            </a:pPr>
            <a:r>
              <a:rPr lang="en-US" sz="2400" b="1" dirty="0"/>
              <a:t>Business Impact:</a:t>
            </a:r>
            <a:r>
              <a:rPr lang="en-US" sz="2400" dirty="0"/>
              <a:t> By identifying popular content, we can optimize the homepage to show trending movies, reducing the time users spend searching.</a:t>
            </a:r>
          </a:p>
        </p:txBody>
      </p:sp>
    </p:spTree>
    <p:extLst>
      <p:ext uri="{BB962C8B-B14F-4D97-AF65-F5344CB8AC3E}">
        <p14:creationId xmlns:p14="http://schemas.microsoft.com/office/powerpoint/2010/main" val="21871886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EBC335-46AD-7F63-6532-2EDBD54B8687}"/>
              </a:ext>
            </a:extLst>
          </p:cNvPr>
          <p:cNvSpPr>
            <a:spLocks noGrp="1"/>
          </p:cNvSpPr>
          <p:nvPr>
            <p:ph type="title"/>
          </p:nvPr>
        </p:nvSpPr>
        <p:spPr>
          <a:xfrm>
            <a:off x="331424" y="365126"/>
            <a:ext cx="10515600" cy="725544"/>
          </a:xfrm>
        </p:spPr>
        <p:txBody>
          <a:bodyPr/>
          <a:lstStyle/>
          <a:p>
            <a:r>
              <a:rPr lang="en-US" dirty="0"/>
              <a:t>Genre Distribution Analysis</a:t>
            </a:r>
          </a:p>
        </p:txBody>
      </p:sp>
      <p:pic>
        <p:nvPicPr>
          <p:cNvPr id="5" name="Picture 4">
            <a:extLst>
              <a:ext uri="{FF2B5EF4-FFF2-40B4-BE49-F238E27FC236}">
                <a16:creationId xmlns:a16="http://schemas.microsoft.com/office/drawing/2014/main" id="{CDB36CA9-940C-AD34-A785-444BD9F4E2F7}"/>
              </a:ext>
            </a:extLst>
          </p:cNvPr>
          <p:cNvPicPr>
            <a:picLocks noChangeAspect="1"/>
          </p:cNvPicPr>
          <p:nvPr/>
        </p:nvPicPr>
        <p:blipFill>
          <a:blip r:embed="rId2"/>
          <a:stretch>
            <a:fillRect/>
          </a:stretch>
        </p:blipFill>
        <p:spPr>
          <a:xfrm>
            <a:off x="859316" y="1090670"/>
            <a:ext cx="9033831" cy="4244707"/>
          </a:xfrm>
          <a:prstGeom prst="rect">
            <a:avLst/>
          </a:prstGeom>
        </p:spPr>
      </p:pic>
      <p:sp>
        <p:nvSpPr>
          <p:cNvPr id="6" name="TextBox 5">
            <a:extLst>
              <a:ext uri="{FF2B5EF4-FFF2-40B4-BE49-F238E27FC236}">
                <a16:creationId xmlns:a16="http://schemas.microsoft.com/office/drawing/2014/main" id="{E9FA7FEB-BEC5-D537-F74C-5D417E6AF1B2}"/>
              </a:ext>
            </a:extLst>
          </p:cNvPr>
          <p:cNvSpPr txBox="1"/>
          <p:nvPr/>
        </p:nvSpPr>
        <p:spPr>
          <a:xfrm>
            <a:off x="649995" y="5464366"/>
            <a:ext cx="11160087" cy="830997"/>
          </a:xfrm>
          <a:prstGeom prst="rect">
            <a:avLst/>
          </a:prstGeom>
          <a:noFill/>
        </p:spPr>
        <p:txBody>
          <a:bodyPr wrap="square" rtlCol="0">
            <a:spAutoFit/>
          </a:bodyPr>
          <a:lstStyle/>
          <a:p>
            <a:r>
              <a:rPr lang="en-US" sz="2400" b="0" i="0" dirty="0">
                <a:effectLst/>
              </a:rPr>
              <a:t>Drama is the most common genre, followed by Comedy and Thriller. This reflects the composition of the movie industry and user preferences.</a:t>
            </a:r>
            <a:endParaRPr lang="en-US" sz="2400" dirty="0"/>
          </a:p>
        </p:txBody>
      </p:sp>
    </p:spTree>
    <p:extLst>
      <p:ext uri="{BB962C8B-B14F-4D97-AF65-F5344CB8AC3E}">
        <p14:creationId xmlns:p14="http://schemas.microsoft.com/office/powerpoint/2010/main" val="39917100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78F39E-AE5F-7D4E-31AA-BE4493835E36}"/>
              </a:ext>
            </a:extLst>
          </p:cNvPr>
          <p:cNvSpPr>
            <a:spLocks noGrp="1"/>
          </p:cNvSpPr>
          <p:nvPr>
            <p:ph type="title"/>
          </p:nvPr>
        </p:nvSpPr>
        <p:spPr>
          <a:xfrm>
            <a:off x="397526" y="365126"/>
            <a:ext cx="10515600" cy="868763"/>
          </a:xfrm>
        </p:spPr>
        <p:txBody>
          <a:bodyPr/>
          <a:lstStyle/>
          <a:p>
            <a:r>
              <a:rPr lang="en-US" dirty="0"/>
              <a:t> Rating Patterns Over Time</a:t>
            </a:r>
          </a:p>
        </p:txBody>
      </p:sp>
      <p:pic>
        <p:nvPicPr>
          <p:cNvPr id="8" name="Picture 7">
            <a:extLst>
              <a:ext uri="{FF2B5EF4-FFF2-40B4-BE49-F238E27FC236}">
                <a16:creationId xmlns:a16="http://schemas.microsoft.com/office/drawing/2014/main" id="{CA051599-AB81-981A-DAE2-AE6BD7315408}"/>
              </a:ext>
            </a:extLst>
          </p:cNvPr>
          <p:cNvPicPr>
            <a:picLocks noChangeAspect="1"/>
          </p:cNvPicPr>
          <p:nvPr/>
        </p:nvPicPr>
        <p:blipFill>
          <a:blip r:embed="rId2"/>
          <a:stretch>
            <a:fillRect/>
          </a:stretch>
        </p:blipFill>
        <p:spPr>
          <a:xfrm>
            <a:off x="882072" y="1137557"/>
            <a:ext cx="8153400" cy="4038600"/>
          </a:xfrm>
          <a:prstGeom prst="rect">
            <a:avLst/>
          </a:prstGeom>
        </p:spPr>
      </p:pic>
      <p:sp>
        <p:nvSpPr>
          <p:cNvPr id="3" name="TextBox 2">
            <a:extLst>
              <a:ext uri="{FF2B5EF4-FFF2-40B4-BE49-F238E27FC236}">
                <a16:creationId xmlns:a16="http://schemas.microsoft.com/office/drawing/2014/main" id="{E2B6478D-5FDA-ED10-D172-763194942377}"/>
              </a:ext>
            </a:extLst>
          </p:cNvPr>
          <p:cNvSpPr txBox="1"/>
          <p:nvPr/>
        </p:nvSpPr>
        <p:spPr>
          <a:xfrm>
            <a:off x="631371" y="5421086"/>
            <a:ext cx="11081658" cy="1200329"/>
          </a:xfrm>
          <a:prstGeom prst="rect">
            <a:avLst/>
          </a:prstGeom>
          <a:noFill/>
        </p:spPr>
        <p:txBody>
          <a:bodyPr wrap="square" rtlCol="0">
            <a:spAutoFit/>
          </a:bodyPr>
          <a:lstStyle/>
          <a:p>
            <a:pPr>
              <a:buFont typeface="Arial" panose="020B0604020202020204" pitchFamily="34" charset="0"/>
              <a:buChar char="•"/>
            </a:pPr>
            <a:r>
              <a:rPr lang="en-US" b="1" dirty="0"/>
              <a:t>High ratings:</a:t>
            </a:r>
            <a:r>
              <a:rPr lang="en-US" dirty="0"/>
              <a:t> 2000 (~10,000), 2017 (~8,200), 2015-2016 (~6,600)</a:t>
            </a:r>
          </a:p>
          <a:p>
            <a:pPr>
              <a:buFont typeface="Arial" panose="020B0604020202020204" pitchFamily="34" charset="0"/>
              <a:buChar char="•"/>
            </a:pPr>
            <a:r>
              <a:rPr lang="en-US" b="1" dirty="0"/>
              <a:t>Moderate ratings:</a:t>
            </a:r>
            <a:r>
              <a:rPr lang="en-US" dirty="0"/>
              <a:t> 1996 (~6,000), 2005 (~5,800), 2007 (~7,100), 2012 (~4,600)</a:t>
            </a:r>
          </a:p>
          <a:p>
            <a:pPr>
              <a:buFont typeface="Arial" panose="020B0604020202020204" pitchFamily="34" charset="0"/>
              <a:buChar char="•"/>
            </a:pPr>
            <a:r>
              <a:rPr lang="en-US" b="1" dirty="0"/>
              <a:t>Low ratings:</a:t>
            </a:r>
            <a:r>
              <a:rPr lang="en-US" dirty="0"/>
              <a:t> 1998 (~500), 1997 (~1,900), 2010 (~2,300), 2011 (~1,700), 2013 (~1,600), 2014 (~1,400)</a:t>
            </a:r>
          </a:p>
          <a:p>
            <a:pPr>
              <a:buNone/>
            </a:pPr>
            <a:r>
              <a:rPr lang="en-US" b="1" dirty="0"/>
              <a:t>Observation:</a:t>
            </a:r>
            <a:r>
              <a:rPr lang="en-US" dirty="0"/>
              <a:t> Ratings fluctuate over the years, with peaks around 2000 and 2017.</a:t>
            </a:r>
          </a:p>
        </p:txBody>
      </p:sp>
    </p:spTree>
    <p:extLst>
      <p:ext uri="{BB962C8B-B14F-4D97-AF65-F5344CB8AC3E}">
        <p14:creationId xmlns:p14="http://schemas.microsoft.com/office/powerpoint/2010/main" val="223347311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436</TotalTime>
  <Words>930</Words>
  <Application>Microsoft Office PowerPoint</Application>
  <PresentationFormat>Widescreen</PresentationFormat>
  <Paragraphs>56</Paragraphs>
  <Slides>14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Calibri Light</vt:lpstr>
      <vt:lpstr>Office Theme</vt:lpstr>
      <vt:lpstr>PowerPoint Presentation</vt:lpstr>
      <vt:lpstr>General Overview</vt:lpstr>
      <vt:lpstr>BUSINESS UNDERSTANDING </vt:lpstr>
      <vt:lpstr>Objectives</vt:lpstr>
      <vt:lpstr>DATA UNDESTANDING</vt:lpstr>
      <vt:lpstr>DATA PREPARATION</vt:lpstr>
      <vt:lpstr>Exploratory Data Analysis</vt:lpstr>
      <vt:lpstr>1. Rating Distribution</vt:lpstr>
      <vt:lpstr>PowerPoint Presentation</vt:lpstr>
      <vt:lpstr>2. User Activity Analysis</vt:lpstr>
      <vt:lpstr>Movie Popularity Analysis</vt:lpstr>
      <vt:lpstr>PowerPoint Presentation</vt:lpstr>
      <vt:lpstr>Genre Distribution Analysis</vt:lpstr>
      <vt:lpstr> Rating Patterns Over Time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Nancy muriithi</dc:creator>
  <cp:lastModifiedBy>Nancy muriithi</cp:lastModifiedBy>
  <cp:revision>2</cp:revision>
  <dcterms:created xsi:type="dcterms:W3CDTF">2026-02-03T08:18:07Z</dcterms:created>
  <dcterms:modified xsi:type="dcterms:W3CDTF">2026-02-03T16:53:44Z</dcterms:modified>
</cp:coreProperties>
</file>